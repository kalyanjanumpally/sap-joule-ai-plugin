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04E39"/>
                </a:solidFill>
                <a:latin typeface="Calibri"/>
              </a:rPr>
              <a:t>@SAPTARISHI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cds-plugin-llm  +  cds-plugin-vector-hana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Two CAP-native plugins that turn SAP Joule projects 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production-grade AI platforms — in one line of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4A6B8C"/>
                </a:solidFill>
                <a:latin typeface="Calibri"/>
              </a:rPr>
              <a:t>cds-plugin-llm 2.38.0  ·  cds-plugin-vector-hana 0.13.0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Every SAP LLM project rebuilds the same 40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04E39"/>
                </a:solidFill>
                <a:latin typeface="Calibri"/>
              </a:rPr>
              <a:t>▸ </a:t>
            </a:r>
            <a:r>
              <a:rPr sz="1600">
                <a:solidFill>
                  <a:srgbClr val="1B1E24"/>
                </a:solidFill>
                <a:latin typeface="Calibri"/>
              </a:rPr>
              <a:t>The demo works.  Then finance asks for a budget cap. Ops asks for retries. Legal asks for PII scrubbing. Security asks for prompt-injection defense.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04E39"/>
                </a:solidFill>
                <a:latin typeface="Calibri"/>
              </a:rPr>
              <a:t>▸ </a:t>
            </a:r>
            <a:r>
              <a:rPr sz="1600">
                <a:solidFill>
                  <a:srgbClr val="1B1E24"/>
                </a:solidFill>
                <a:latin typeface="Calibri"/>
              </a:rPr>
              <a:t>Every team hand-builds cost / resilience / security / observability from scratch. Six months later there's still no A/B framework, no rate-limit retry with jitter, no cross-provider fallback, no cost forecast.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04E39"/>
                </a:solidFill>
                <a:latin typeface="Calibri"/>
              </a:rPr>
              <a:t>▸ </a:t>
            </a:r>
            <a:r>
              <a:rPr sz="1600">
                <a:solidFill>
                  <a:srgbClr val="1B1E24"/>
                </a:solidFill>
                <a:latin typeface="Calibri"/>
              </a:rPr>
              <a:t>SAP's own Generative AI Hub gives you a model endpoint. It does NOT give you the 40 middleware layers between the endpoint and a production POS.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04E39"/>
                </a:solidFill>
                <a:latin typeface="Calibri"/>
              </a:rPr>
              <a:t>▸ </a:t>
            </a:r>
            <a:r>
              <a:rPr sz="1600">
                <a:solidFill>
                  <a:srgbClr val="1B1E24"/>
                </a:solidFill>
                <a:latin typeface="Calibri"/>
              </a:rPr>
              <a:t>Meanwhile CAP is the SAP-native way to build services. What if the AI plumbing came in the same shape as any other CAP dependency?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OUR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Two plugins.  One line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cds-plugin-llm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A6B8C"/>
                </a:solidFill>
                <a:latin typeface="Calibri"/>
              </a:rPr>
              <a:t>11 providers behind one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Anthropic · Google Gemini · Bedrock · Azure OpenAI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Ollama · Groq · Fireworks · DeepSeek · Mistral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OpenAI-compatible · SAP Generative AI Hub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40+ middleware primitives · 2.x API stability contract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Koa-style llm.use() composition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486400" cy="4572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cds-plugin-vector-hana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A6B8C"/>
                </a:solidFill>
                <a:latin typeface="Calibri"/>
              </a:rPr>
              <a:t>@rag annotation on any CAP 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HANA Cloud REAL_VECTOR + SQLite dev fallback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Hybrid vector + keyword (RRF fusion)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HyDE query expansion, LLM rerank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Auto-declares searchByMeaning / askAbout OData actions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Zero handler code — pure declarative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PLUGIN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cds-plugin-llm — 40+ primitives across 10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" cy="86868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budget · guard · forecast · quota · aware routing · overrun predictor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137160" cy="868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circuit breaker · bulkhead · deadline · retry · region failover · hedge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37160" cy="8686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PII redact · reversible tokens · injection guard · guardrails · HMAC signing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51760"/>
            <a:ext cx="137160" cy="868680"/>
          </a:xfrm>
          <a:prstGeom prst="rect">
            <a:avLst/>
          </a:prstGeom>
          <a:solidFill>
            <a:srgbClr val="0F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3580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OTel · Prometheus · JSON log · health probe · latency histograms · MCP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137160" cy="868680"/>
          </a:xfrm>
          <a:prstGeom prst="rect">
            <a:avLst/>
          </a:prstGeom>
          <a:solidFill>
            <a:srgbClr val="E09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576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9592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model · tenant · cost-aware · fair-share · semantic · load balancer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1188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611880"/>
            <a:ext cx="13716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65760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Caching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99592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exact · semantic · embedding dedup · request coalescer · fuzzy dedup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137160" cy="8686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17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95604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JSON schema validate · repair · function-call arbitrator · length gate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57200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572000"/>
            <a:ext cx="137160" cy="86868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617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Long-context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95604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compact history · session store · reversible tokenization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3212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532120"/>
            <a:ext cx="137160" cy="868680"/>
          </a:xfrm>
          <a:prstGeom prst="rect">
            <a:avLst/>
          </a:prstGeom>
          <a:solidFill>
            <a:srgbClr val="D3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77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RAG + 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91616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ragChain · llmJudge · promptRegression · consensusVoting · A/B experiment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53212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532120"/>
            <a:ext cx="137160" cy="868680"/>
          </a:xfrm>
          <a:prstGeom prst="rect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57784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F253C"/>
                </a:solidFill>
                <a:latin typeface="Calibri"/>
              </a:rPr>
              <a:t>Multi-agent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916168"/>
            <a:ext cx="5303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Agent · runAgents · streamAgents · autoToolChain · supervisor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Cost primitives — turn AI spend into an SLO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costGuard — pre-flight per-call USD ceiling (rejects before the API call)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costBudget — per-tenant / per-model / per-window ceilings; hydrate from a CAP entity, edit live, no restart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costForecast — rolling-window spend projection with rising-edge alerts ("you'll hit the $50 target at 2:47pm")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quotaManager — per-user USD quota with warnings before the ceiling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costOverrunPredictor — calendar-window burn-rate + startOfMonth / endOfMonth helpers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costAwareRouter — cheap model first, escalate to expensive on schema failure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adaptiveMaxTokens — shrink maxTokens automatically to fit remaining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931920" cy="41148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96596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331720"/>
            <a:ext cx="3474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The finance conversation flips.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108960"/>
            <a:ext cx="347472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Instead of "what did this cost last month?" (reactive), finance now says "here's the ceiling per tenant per hour" and the plumbing enforces it. Overspend becomes a structurally impossible failure mode, not a monitoring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OPS + SECURITY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Resilience + Security — production defaults, not homework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retryOnRateLimit — exponential backoff, honors Retry-After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circuitBreaker — per-provider open/half-open/closed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bulkhead + adaptiveBulkhead — AIMD tuning on p95 latency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deadline — hard per-call time budget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gracePeriod — soft deadline warnings + optional hard timeout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speculativeHedge — staggered parallel hedges for tail latency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regionFailover — chatWithFallback across N regions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chaosInjector — deterministic seeded fault injection (test-only)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5394960" cy="4572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guardrails — regex + PII + blocklist stages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promptInjectionGuard — 6-detector jailbreak defense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piiRedact — round-trip PII masking with reversible tokens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safetyClassifier — moderation + Anthropic refusal detection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requestSigning — HMAC receipts + verifyReceiptChain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responseSigning — HMAC responses (tamper-evident audit trail)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sensitiveDataAudit — before/after diff capture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emptyResponseDetector — refusal-pattern detection + auto-retry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SRE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Observability — every middleware is a live MCP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OpenTelemetry spans with cost + correlation + routing + errors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Prometheus /metrics text-exposition — one endpoint, all counters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JSON structured logs (one line per call) with error taxonomy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providerHealthProbe + healthAggregate — unified verdict per provider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latencyHistogram — per-dimension p50/p95/p99 with Prom export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traceCorrelation via uuidv7 (sortable, deterministic)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replayBuffer — rolling in-memory window for on-call debugging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usageMeteringToCap — auto-persists to a CAP entity (queryable via OData)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931920" cy="41148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96596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MCP-FIRST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331720"/>
            <a:ext cx="3474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Every counter is a subscribable resource.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383280"/>
            <a:ext cx="347472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asMcpResource() ships on every middleware. Claude Desktop, Cline, Cursor can subscribe to config://budget, config://circuit-breaker, config://fuzzy-dedup — and get a push notification the moment a counter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NEW IN 2.38.0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Fuzzy Dedup — the third layer in the dedup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04E39"/>
                </a:solidFill>
                <a:latin typeface="Calibri"/>
              </a:rPr>
              <a:t>▸ </a:t>
            </a:r>
            <a:r>
              <a:rPr sz="1500">
                <a:solidFill>
                  <a:srgbClr val="1B1E24"/>
                </a:solidFill>
                <a:latin typeface="Calibri"/>
              </a:rPr>
              <a:t>Layer 1: requestCoalescer — byte-identical, in-flight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4E39"/>
                </a:solidFill>
                <a:latin typeface="Calibri"/>
              </a:rPr>
              <a:t>▸ </a:t>
            </a:r>
            <a:r>
              <a:rPr sz="1500">
                <a:solidFill>
                  <a:srgbClr val="1B1E24"/>
                </a:solidFill>
                <a:latin typeface="Calibri"/>
              </a:rPr>
              <a:t>Layer 2: responseCache — byte-identical, at-rest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4E39"/>
                </a:solidFill>
                <a:latin typeface="Calibri"/>
              </a:rPr>
              <a:t>▸ </a:t>
            </a:r>
            <a:r>
              <a:rPr sz="1500">
                <a:solidFill>
                  <a:srgbClr val="1B1E24"/>
                </a:solidFill>
                <a:latin typeface="Calibri"/>
              </a:rPr>
              <a:t>Layer 3: semanticCache — embedding-similar (needs embedder)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4E39"/>
                </a:solidFill>
                <a:latin typeface="Calibri"/>
              </a:rPr>
              <a:t>▸ </a:t>
            </a:r>
            <a:r>
              <a:rPr sz="1500">
                <a:solidFill>
                  <a:srgbClr val="1B1E24"/>
                </a:solidFill>
                <a:latin typeface="Calibri"/>
              </a:rPr>
              <a:t>Layer 4 (NEW): fuzzyDedup — character-similar (no embedder)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943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B1E24"/>
                </a:solidFill>
                <a:latin typeface="Calibri"/>
              </a:rPr>
              <a:t>Jaccard-trigram or normalized Levenshtein similarity. Catches supplier IDs retyped with dashes vs spaces, whitespace-only diffs, single-character typos, or extra optional fields — BEFORE the semantic cache spends an embedding round-trip.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737360"/>
            <a:ext cx="47548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737360"/>
            <a:ext cx="4754880" cy="50292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3891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LIVE ON THE PROCUREMENT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4A6B8C"/>
                </a:solidFill>
                <a:latin typeface="Calibri"/>
              </a:rPr>
              <a:t>3 near-duplicate POST /ai/summarizePurchaseOrder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26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4A6B8C"/>
                </a:solidFill>
                <a:latin typeface="Calibri"/>
              </a:rPr>
              <a:t>totalCalls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92608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1E2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429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4A6B8C"/>
                </a:solidFill>
                <a:latin typeface="Calibri"/>
              </a:rPr>
              <a:t>fuzzyHits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4290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931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4A6B8C"/>
                </a:solidFill>
                <a:latin typeface="Calibri"/>
              </a:rPr>
              <a:t>hitRate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93192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Calibri"/>
              </a:rPr>
              <a:t>0.667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434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4A6B8C"/>
                </a:solidFill>
                <a:latin typeface="Calibri"/>
              </a:rPr>
              <a:t>lastSimilarity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43484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B1E24"/>
                </a:solidFill>
                <a:latin typeface="Calibri"/>
              </a:rPr>
              <a:t>0.834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937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4A6B8C"/>
                </a:solidFill>
                <a:latin typeface="Calibri"/>
              </a:rPr>
              <a:t>LLM calls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93776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Calibri"/>
              </a:rPr>
              <a:t>2 of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PLUGIN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cds-plugin-vector-hana — @rag on any CAP 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One annotation on your existing CAP entity — no boilerplate handlers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HANA Cloud REAL_VECTOR + COSINE_SIMILARITY in production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SQLite fallback for local dev — no HANA needed to build features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Hybrid search (vector + keyword via FTS5 / CONTAINS) with alpha knob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Metadata filters: filter: { region: 'EMEA' } exact-match on any field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Auto-declares searchByMeaning + askAbout OData actions on the entity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4E39"/>
                </a:solidFill>
                <a:latin typeface="Calibri"/>
              </a:rPr>
              <a:t>▸ </a:t>
            </a:r>
            <a:r>
              <a:rPr sz="1400">
                <a:solidFill>
                  <a:srgbClr val="1B1E24"/>
                </a:solidFill>
                <a:latin typeface="Calibri"/>
              </a:rPr>
              <a:t>Composes with cds-plugin-llm for embeddings + rerank +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737360"/>
            <a:ext cx="4754880" cy="438912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828800"/>
            <a:ext cx="4297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CDS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19456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nsolas"/>
              </a:rPr>
              <a:t>entity SupplierContracts {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key ID   : String;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supplier : String;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region   : String;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terms    : LargeString;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} @rag: {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fields:         ['supplier','region','terms'],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metadataFields: ['region','supplier'],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dimension:      768,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store:          'hana',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  search:         'hybrid',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>};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CDS-PLUGIN-VECTOR-HANA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5-stage RAG pipeline — every stage a separate primitive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109155" cy="5486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10915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HyDE expand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926275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LLM writes a hypothetical answer — both question + answer get embedded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0675" y="201168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0675" y="2011680"/>
            <a:ext cx="2109155" cy="5486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0675" y="2011680"/>
            <a:ext cx="210915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Hybrid 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2115" y="2697480"/>
            <a:ext cx="1926275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Vector + keyword search across each expanded query in parallel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1270" y="201168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1270" y="2011680"/>
            <a:ext cx="2109155" cy="5486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1270" y="2011680"/>
            <a:ext cx="210915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RRF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2710" y="2697480"/>
            <a:ext cx="1926275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Reciprocal Rank Fusion — docs in multiple lists rank higher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1865" y="201168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41865" y="2011680"/>
            <a:ext cx="2109155" cy="5486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1865" y="2011680"/>
            <a:ext cx="210915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LLM rerank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305" y="2697480"/>
            <a:ext cx="1926275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Structured 0-10 relevance scoring rewrites the top-K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2460" y="201168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42460" y="2011680"/>
            <a:ext cx="2109155" cy="5486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2460" y="2011680"/>
            <a:ext cx="210915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RAG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697480"/>
            <a:ext cx="1926275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Augmented prompt with cited sources → chat completion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4A6B8C"/>
                </a:solidFill>
                <a:latin typeface="Calibri"/>
              </a:rPr>
              <a:t>Groq Llama-3.3-70B end-to-end: ~2.5s.  Every stage is individually swappable (custom rerankers, alternate expanders, different fusion strategies) — this is the composed default.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PROOF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Joule Procurement Copilot — real customer-ready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A live SAP Joule agent using both plugins end-to-end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Actions: summarize PO · explain invoice risk · extract line items · multi-agent scenario analysis · voice memo → PO draft · batch supplier scoring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29-layer middleware chain (OTel → fuzzy dedup → semantic cache → provider)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Auto-declared RAG actions on SupplierContracts entity (hybrid + HyDE)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Deployed live on Render for the demo call — public URL, click and demo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04E39"/>
                </a:solidFill>
                <a:latin typeface="Calibri"/>
              </a:rPr>
              <a:t>▸ </a:t>
            </a:r>
            <a:r>
              <a:rPr sz="1300">
                <a:solidFill>
                  <a:srgbClr val="1B1E24"/>
                </a:solidFill>
                <a:latin typeface="Calibri"/>
              </a:rPr>
              <a:t>MCP observability surface on port 3334 — subscribe to any middleware's counters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737360"/>
            <a:ext cx="3931920" cy="438912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1460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middleware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38328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LLM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70332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25196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primitives 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57200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E04E39"/>
                </a:solidFill>
                <a:latin typeface="Calibri"/>
              </a:rPr>
              <a:t>~2.5s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12064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5-stage RAG p95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440680"/>
            <a:ext cx="3383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2E8B57"/>
                </a:solidFill>
                <a:latin typeface="Calibri"/>
              </a:rPr>
              <a:t>0.667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98932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fuzzy hit rate (demo)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37160" cy="548640"/>
          </a:xfrm>
          <a:prstGeom prst="rect">
            <a:avLst/>
          </a:prstGeom>
          <a:solidFill>
            <a:srgbClr val="E04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0F253C"/>
                </a:solidFill>
                <a:latin typeface="Calibri"/>
              </a:rPr>
              <a:t>Getting started — one npm install, one line of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6858000" cy="411480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04E39"/>
                </a:solidFill>
                <a:latin typeface="Calibri"/>
              </a:rPr>
              <a:t>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nsolas"/>
              </a:rPr>
              <a:t>$ npm install @saptarishi/cds-plugin-llm \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            @saptarishi/cds-plugin-vector-hana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// srv/ai-service.js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const llm = await cds.connect.to('llm');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llm.use(costBudget({ perTenant: { acme: 100 } }));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llm.use(promptInjectionGuard());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llm.use(piiRedact());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llm.use(fuzzyDedup({ store: inMemoryFuzzyStore() }));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llm.use(responseCache({ semantic: { embedder } }));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const { text } = await llm.chat({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  messages: [{ role: 'user', content: 'summarise PO-4471' }],</a:t>
            </a:r>
          </a:p>
          <a:p>
            <a:r>
              <a:rPr sz="110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737360"/>
            <a:ext cx="39319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4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74519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E04E39"/>
                </a:solidFill>
                <a:latin typeface="Calibri"/>
              </a:rP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6B8C"/>
                </a:solidFill>
                <a:latin typeface="Calibri"/>
              </a:rPr>
              <a:t>npm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5176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@saptarishi/cds-plugin-llm@2.38.0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2608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@saptarishi/cds-plugin-vector-hana@0.13.0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42900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6B8C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70332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github.com/kalyanjanumpally/
sap-joule-ai-plugin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6B8C"/>
                </a:solidFill>
                <a:latin typeface="Calibri"/>
              </a:rP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709160"/>
            <a:ext cx="3474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Procurement Copilot on Render (URL provided during the call)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34924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6B8C"/>
                </a:solidFill>
                <a:latin typeface="Calibri"/>
              </a:rPr>
              <a:t>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562356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1B1E24"/>
                </a:solidFill>
                <a:latin typeface="Calibri"/>
              </a:rPr>
              <a:t>jkalyan@alumni.iitm.ac.in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SAP Joule + CAP-native LLM plugins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3796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